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70" r:id="rId14"/>
    <p:sldId id="267" r:id="rId15"/>
    <p:sldId id="268" r:id="rId16"/>
    <p:sldId id="269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  <p:embeddedFont>
      <p:font typeface="Montserrat ExtraBold" panose="00000900000000000000" pitchFamily="2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ca4b07d14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ca4b07d14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0674348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0674348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80aeea1a29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80aeea1a29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80674348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80674348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 type="title">
  <p:cSld name="TITLE">
    <p:bg>
      <p:bgPr>
        <a:solidFill>
          <a:srgbClr val="57068C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1" name="Google Shape;11;p2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2">
  <p:cSld name="TITLE_1">
    <p:bg>
      <p:bgPr>
        <a:solidFill>
          <a:srgbClr val="57068C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7" name="Google Shape;17;p3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4">
  <p:cSld name="TITLE_1_1_1">
    <p:bg>
      <p:bgPr>
        <a:solidFill>
          <a:srgbClr val="57068C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3" name="Google Shape;23;p4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5">
  <p:cSld name="TITLE_1_1_1_1">
    <p:bg>
      <p:bgPr>
        <a:solidFill>
          <a:srgbClr val="57068C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9" name="Google Shape;29;p5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57068C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7" cy="514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" name="Google Shape;34;p6" descr=" "/>
          <p:cNvCxnSpPr/>
          <p:nvPr/>
        </p:nvCxnSpPr>
        <p:spPr>
          <a:xfrm>
            <a:off x="407168" y="2618527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" name="Google Shape;35;p6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ubTitle" idx="1"/>
          </p:nvPr>
        </p:nvSpPr>
        <p:spPr>
          <a:xfrm>
            <a:off x="316950" y="2938025"/>
            <a:ext cx="4031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1152475"/>
            <a:ext cx="3345900" cy="31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4114800" y="1175683"/>
            <a:ext cx="4192800" cy="31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" name="Google Shape;42;p7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92">
          <p15:clr>
            <a:srgbClr val="FA7B17"/>
          </p15:clr>
        </p15:guide>
        <p15:guide id="2" pos="2304">
          <p15:clr>
            <a:srgbClr val="FA7B17"/>
          </p15:clr>
        </p15:guide>
        <p15:guide id="3" orient="horz" pos="720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pic>
        <p:nvPicPr>
          <p:cNvPr id="46" name="Google Shape;46;p8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2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" name="Google Shape;5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pic>
        <p:nvPicPr>
          <p:cNvPr id="53" name="Google Shape;53;p9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" name="Google Shape;5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11700" y="1646230"/>
            <a:ext cx="3350400" cy="24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59" name="Google Shape;59;p10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 txBox="1">
            <a:spLocks noGrp="1"/>
          </p:cNvSpPr>
          <p:nvPr>
            <p:ph type="title"/>
          </p:nvPr>
        </p:nvSpPr>
        <p:spPr>
          <a:xfrm>
            <a:off x="407175" y="450150"/>
            <a:ext cx="8329500" cy="3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6000"/>
              <a:buFont typeface="Montserrat Black"/>
              <a:buNone/>
              <a:defRPr sz="6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pic>
        <p:nvPicPr>
          <p:cNvPr id="65" name="Google Shape;65;p11" descr="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 descr=" 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subTitle" idx="1"/>
          </p:nvPr>
        </p:nvSpPr>
        <p:spPr>
          <a:xfrm>
            <a:off x="294375" y="2803075"/>
            <a:ext cx="39558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72" name="Google Shape;72;p12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4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311700" y="3564945"/>
            <a:ext cx="44913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None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bg>
      <p:bgPr>
        <a:solidFill>
          <a:schemeClr val="dk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>
            <a:spLocks noGrp="1"/>
          </p:cNvSpPr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90;p1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_1"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96" name="Google Shape;96;p16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" name="Google Shape;97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 1">
  <p:cSld name="CUSTOM_1_1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" name="Google Shape;104;p1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folio" type="blank">
  <p:cSld name="BLANK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9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ExtraBold"/>
              <a:buNone/>
              <a:defRPr sz="420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  <p:sldLayoutId id="2147483662" r:id="rId14"/>
    <p:sldLayoutId id="2147483663" r:id="rId15"/>
    <p:sldLayoutId id="2147483665" r:id="rId16"/>
    <p:sldLayoutId id="2147483666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ECG FOUNDATION MODEL VALIDATION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On Unseen PhysioNet Data</a:t>
            </a:r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August 16,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ECGFOUNDER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A GLANCE</a:t>
            </a:r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1376250" y="1700000"/>
            <a:ext cx="3330300" cy="2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000" b="1" dirty="0"/>
              <a:t>MODEL</a:t>
            </a:r>
            <a:r>
              <a:rPr lang="en" sz="1000" dirty="0"/>
              <a:t> ECGFounder, a 1-D CNN (Net1D, built on RegNet). Multilabel output over 150 diagnostic classes covering rhythm, morphology, and diagnosis.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000" b="1" dirty="0"/>
              <a:t>INPUTS</a:t>
            </a:r>
            <a:r>
              <a:rPr lang="en" sz="1000" dirty="0"/>
              <a:t> </a:t>
            </a:r>
            <a:r>
              <a:rPr lang="en" sz="1000" b="1" dirty="0"/>
              <a:t>10-second recordings at 500 Hz</a:t>
            </a:r>
            <a:r>
              <a:rPr lang="en" sz="1000" dirty="0"/>
              <a:t>. Two variants: </a:t>
            </a:r>
            <a:r>
              <a:rPr lang="en" sz="1000" b="1" dirty="0"/>
              <a:t>a 12-lead model</a:t>
            </a:r>
            <a:r>
              <a:rPr lang="en" sz="1000" dirty="0"/>
              <a:t>, and </a:t>
            </a:r>
            <a:r>
              <a:rPr lang="en" sz="1000" b="1" dirty="0"/>
              <a:t>a single-lead </a:t>
            </a:r>
            <a:r>
              <a:rPr lang="en" sz="1000" dirty="0"/>
              <a:t>(lead I) model trained with </a:t>
            </a:r>
            <a:r>
              <a:rPr lang="en" sz="1000" b="1" dirty="0"/>
              <a:t>limb-lead augmentation </a:t>
            </a:r>
            <a:r>
              <a:rPr lang="en" sz="1000" dirty="0"/>
              <a:t>for wearables.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000" b="1" dirty="0"/>
              <a:t>PREPROCESSING</a:t>
            </a:r>
            <a:r>
              <a:rPr lang="en" sz="1000" dirty="0"/>
              <a:t> Resample to </a:t>
            </a:r>
            <a:r>
              <a:rPr lang="en" sz="1000" b="1" dirty="0"/>
              <a:t>500 Hz</a:t>
            </a:r>
            <a:r>
              <a:rPr lang="en" sz="1000" dirty="0"/>
              <a:t>, </a:t>
            </a:r>
            <a:r>
              <a:rPr lang="en" sz="1000" b="1" dirty="0"/>
              <a:t>0.5 Hz high-pass</a:t>
            </a:r>
            <a:r>
              <a:rPr lang="en" sz="1000" dirty="0"/>
              <a:t>, </a:t>
            </a:r>
            <a:r>
              <a:rPr lang="en" sz="1000" b="1" dirty="0"/>
              <a:t>50 Hz Butterworth low-pass</a:t>
            </a:r>
            <a:r>
              <a:rPr lang="en" sz="1000" dirty="0"/>
              <a:t>, </a:t>
            </a:r>
            <a:r>
              <a:rPr lang="en" sz="1000" b="1" dirty="0"/>
              <a:t>50/60 Hz notch</a:t>
            </a:r>
            <a:r>
              <a:rPr lang="en" sz="1000" dirty="0"/>
              <a:t>, 10-s windows with zero padding, per-segment normalization.</a:t>
            </a:r>
            <a:endParaRPr dirty="0"/>
          </a:p>
        </p:txBody>
      </p:sp>
      <p:cxnSp>
        <p:nvCxnSpPr>
          <p:cNvPr id="143" name="Google Shape;143;p24"/>
          <p:cNvCxnSpPr/>
          <p:nvPr/>
        </p:nvCxnSpPr>
        <p:spPr>
          <a:xfrm>
            <a:off x="418229" y="2012625"/>
            <a:ext cx="6216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" name="Google Shape;144;p24"/>
          <p:cNvSpPr txBox="1">
            <a:spLocks noGrp="1"/>
          </p:cNvSpPr>
          <p:nvPr>
            <p:ph type="body" idx="2"/>
          </p:nvPr>
        </p:nvSpPr>
        <p:spPr>
          <a:xfrm>
            <a:off x="5051175" y="1700000"/>
            <a:ext cx="3330300" cy="2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000" b="1" dirty="0"/>
              <a:t>PRETRAINING</a:t>
            </a:r>
            <a:r>
              <a:rPr lang="en" sz="1000" dirty="0"/>
              <a:t> Harvard–Emory ECG Database - 10,771,552 ECGs from 1,818,247 subjects.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000" b="1" dirty="0"/>
              <a:t>EXTERNAL VALIDATION</a:t>
            </a:r>
            <a:r>
              <a:rPr lang="en" sz="1000" dirty="0"/>
              <a:t> CODE-test, PTB-XL, and PhysioNet Challenge 2017 (single-lead).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000" b="1" dirty="0"/>
              <a:t>FINE-TUNING</a:t>
            </a:r>
            <a:r>
              <a:rPr lang="en" sz="1000" dirty="0"/>
              <a:t> MIMIC-IV-ECG (800,035 ECGs, 161,352 patients) for age, sex, CKD, CHD, LVEF, and NT-proBNP; DeepBeat PPG for atrial fibrillation.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000" b="1" dirty="0">
                <a:solidFill>
                  <a:srgbClr val="57068C"/>
                </a:solidFill>
              </a:rPr>
              <a:t>OUR VALIDATION SET</a:t>
            </a:r>
            <a:r>
              <a:rPr lang="en" sz="1000" dirty="0"/>
              <a:t> PTB-XL (Physikalisch-Technische Bundesanstalt), PhysioNet v1.0.3 - 21,799 12-lead ECGs from 18,869 patients. Held out of both pretraining and fine-tuning, so no leakage.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012243" cy="222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6C031B-9A39-149B-943A-C49848094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7042"/>
            <a:ext cx="8969828" cy="33851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EMBEDDING PROJECTION COMPARISON</a:t>
            </a:r>
            <a:endParaRPr/>
          </a:p>
        </p:txBody>
      </p:sp>
      <p:pic>
        <p:nvPicPr>
          <p:cNvPr id="900" name="tsne af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92000" y="1220000"/>
            <a:ext cx="3580000" cy="2851028"/>
          </a:xfrm>
          <a:prstGeom prst="rect">
            <a:avLst/>
          </a:prstGeom>
        </p:spPr>
      </p:pic>
      <p:sp>
        <p:nvSpPr>
          <p:cNvPr id="910" name="Caption 910"/>
          <p:cNvSpPr txBox="1"/>
          <p:nvPr/>
        </p:nvSpPr>
        <p:spPr>
          <a:xfrm>
            <a:off x="792000" y="4161028"/>
            <a:ext cx="3580000" cy="33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lvl="0" indent="0" algn="ctr" rtl="0">
              <a:buNone/>
            </a:pPr>
            <a:r>
              <a:rPr lang="en" sz="1100" b="1">
                <a:solidFill>
                  <a:srgbClr val="57068C"/>
                </a:solidFill>
                <a:latin typeface="Montserrat"/>
              </a:rPr>
              <a:t>ATRIAL FIBRILLATION</a:t>
            </a:r>
            <a:endParaRPr/>
          </a:p>
        </p:txBody>
      </p:sp>
      <p:pic>
        <p:nvPicPr>
          <p:cNvPr id="901" name="tsne st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772000" y="1220000"/>
            <a:ext cx="3580000" cy="2851028"/>
          </a:xfrm>
          <a:prstGeom prst="rect">
            <a:avLst/>
          </a:prstGeom>
        </p:spPr>
      </p:pic>
      <p:sp>
        <p:nvSpPr>
          <p:cNvPr id="911" name="Caption 911"/>
          <p:cNvSpPr txBox="1"/>
          <p:nvPr/>
        </p:nvSpPr>
        <p:spPr>
          <a:xfrm>
            <a:off x="4772000" y="4161028"/>
            <a:ext cx="3580000" cy="33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lvl="0" indent="0" algn="ctr" rtl="0">
              <a:buNone/>
            </a:pPr>
            <a:r>
              <a:rPr lang="en" sz="1100" b="1">
                <a:solidFill>
                  <a:srgbClr val="57068C"/>
                </a:solidFill>
                <a:latin typeface="Montserrat"/>
              </a:rPr>
              <a:t>SINUS TACHYCARDIA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EMBEDDING PROJECTION COMPARISON</a:t>
            </a:r>
            <a:endParaRPr/>
          </a:p>
        </p:txBody>
      </p:sp>
      <p:pic>
        <p:nvPicPr>
          <p:cNvPr id="900" name="tsne svt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92000" y="1220000"/>
            <a:ext cx="3580000" cy="2851028"/>
          </a:xfrm>
          <a:prstGeom prst="rect">
            <a:avLst/>
          </a:prstGeom>
        </p:spPr>
      </p:pic>
      <p:sp>
        <p:nvSpPr>
          <p:cNvPr id="910" name="Caption 910"/>
          <p:cNvSpPr txBox="1"/>
          <p:nvPr/>
        </p:nvSpPr>
        <p:spPr>
          <a:xfrm>
            <a:off x="792000" y="4161028"/>
            <a:ext cx="3580000" cy="33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lvl="0" indent="0" algn="ctr" rtl="0">
              <a:buNone/>
            </a:pPr>
            <a:r>
              <a:rPr lang="en" sz="1100" b="1">
                <a:solidFill>
                  <a:srgbClr val="57068C"/>
                </a:solidFill>
                <a:latin typeface="Montserrat"/>
              </a:rPr>
              <a:t>SUPRAVENTRICULAR TACHYCARDIA</a:t>
            </a:r>
            <a:endParaRPr/>
          </a:p>
        </p:txBody>
      </p:sp>
      <p:pic>
        <p:nvPicPr>
          <p:cNvPr id="901" name="tsne norm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772000" y="1220000"/>
            <a:ext cx="3580000" cy="2851028"/>
          </a:xfrm>
          <a:prstGeom prst="rect">
            <a:avLst/>
          </a:prstGeom>
        </p:spPr>
      </p:pic>
      <p:sp>
        <p:nvSpPr>
          <p:cNvPr id="911" name="Caption 911"/>
          <p:cNvSpPr txBox="1"/>
          <p:nvPr/>
        </p:nvSpPr>
        <p:spPr>
          <a:xfrm>
            <a:off x="4772000" y="4161028"/>
            <a:ext cx="3580000" cy="33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lvl="0" indent="0" algn="ctr" rtl="0">
              <a:buNone/>
            </a:pPr>
            <a:r>
              <a:rPr lang="en" sz="1100" b="1">
                <a:solidFill>
                  <a:srgbClr val="57068C"/>
                </a:solidFill>
                <a:latin typeface="Montserrat"/>
              </a:rPr>
              <a:t>NORMAL VS ABNORMAL ECG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ATRIAL FIBRILLATION</a:t>
            </a:r>
            <a:endParaRPr dirty="0"/>
          </a:p>
        </p:txBody>
      </p:sp>
      <p:pic>
        <p:nvPicPr>
          <p:cNvPr id="920" name="curve af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85" y="1220000"/>
            <a:ext cx="3017520" cy="2112264"/>
          </a:xfrm>
          <a:prstGeom prst="rect">
            <a:avLst/>
          </a:prstGeom>
        </p:spPr>
      </p:pic>
      <p:sp>
        <p:nvSpPr>
          <p:cNvPr id="930" name="Caption 930"/>
          <p:cNvSpPr txBox="1">
            <a:spLocks noChangeAspect="1"/>
          </p:cNvSpPr>
          <p:nvPr/>
        </p:nvSpPr>
        <p:spPr>
          <a:xfrm>
            <a:off x="372573" y="3327692"/>
            <a:ext cx="2508943" cy="32165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lvl="0" indent="0" algn="ctr" rtl="0">
              <a:buNone/>
            </a:pPr>
            <a:r>
              <a:rPr lang="en" sz="1100" b="1" dirty="0">
                <a:solidFill>
                  <a:srgbClr val="57068C"/>
                </a:solidFill>
                <a:latin typeface="Montserrat"/>
              </a:rPr>
              <a:t>ROC - AUC = 0.99</a:t>
            </a:r>
            <a:endParaRPr dirty="0"/>
          </a:p>
        </p:txBody>
      </p:sp>
      <p:pic>
        <p:nvPicPr>
          <p:cNvPr id="921" name="curve af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943" y="1220000"/>
            <a:ext cx="3017520" cy="2112264"/>
          </a:xfrm>
          <a:prstGeom prst="rect">
            <a:avLst/>
          </a:prstGeom>
        </p:spPr>
      </p:pic>
      <p:sp>
        <p:nvSpPr>
          <p:cNvPr id="931" name="Caption 931"/>
          <p:cNvSpPr txBox="1">
            <a:spLocks noChangeAspect="1"/>
          </p:cNvSpPr>
          <p:nvPr/>
        </p:nvSpPr>
        <p:spPr>
          <a:xfrm>
            <a:off x="3340504" y="3327246"/>
            <a:ext cx="2503259" cy="320931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lvl="0" indent="0" algn="ctr" rtl="0">
              <a:buNone/>
            </a:pPr>
            <a:r>
              <a:rPr lang="en" sz="1100" b="1" dirty="0">
                <a:solidFill>
                  <a:srgbClr val="57068C"/>
                </a:solidFill>
                <a:latin typeface="Montserrat"/>
              </a:rPr>
              <a:t>PRECISION–RECALL CURVE</a:t>
            </a:r>
            <a:endParaRPr dirty="0"/>
          </a:p>
          <a:p>
            <a:pPr marL="0" lvl="0" indent="0" algn="ctr" rtl="0">
              <a:buNone/>
            </a:pPr>
            <a:r>
              <a:rPr lang="en" sz="900" dirty="0">
                <a:solidFill>
                  <a:srgbClr val="404040"/>
                </a:solidFill>
                <a:latin typeface="Montserrat"/>
              </a:rPr>
              <a:t>Prevalence 6.9% (1,514 / 21,799)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E117EE-3AE9-6119-1B97-64C358783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1" y="1064552"/>
            <a:ext cx="3017520" cy="2263140"/>
          </a:xfrm>
          <a:prstGeom prst="rect">
            <a:avLst/>
          </a:prstGeom>
        </p:spPr>
      </p:pic>
      <p:sp>
        <p:nvSpPr>
          <p:cNvPr id="11" name="Caption 930">
            <a:extLst>
              <a:ext uri="{FF2B5EF4-FFF2-40B4-BE49-F238E27FC236}">
                <a16:creationId xmlns:a16="http://schemas.microsoft.com/office/drawing/2014/main" id="{F41F8C9C-2595-7EA9-6B07-E7FDF1156323}"/>
              </a:ext>
            </a:extLst>
          </p:cNvPr>
          <p:cNvSpPr txBox="1">
            <a:spLocks noChangeAspect="1"/>
          </p:cNvSpPr>
          <p:nvPr/>
        </p:nvSpPr>
        <p:spPr>
          <a:xfrm>
            <a:off x="6262484" y="3326518"/>
            <a:ext cx="2508943" cy="32165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lvl="0" indent="0" algn="ctr" rtl="0">
              <a:buNone/>
            </a:pPr>
            <a:r>
              <a:rPr lang="en" sz="1100" b="1" dirty="0">
                <a:solidFill>
                  <a:srgbClr val="57068C"/>
                </a:solidFill>
                <a:latin typeface="Montserrat"/>
              </a:rPr>
              <a:t>Kernel Density Plot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SINUS TACHYCARDIA</a:t>
            </a:r>
            <a:endParaRPr/>
          </a:p>
        </p:txBody>
      </p:sp>
      <p:pic>
        <p:nvPicPr>
          <p:cNvPr id="920" name="curve st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72" y="1220000"/>
            <a:ext cx="3017520" cy="2112264"/>
          </a:xfrm>
          <a:prstGeom prst="rect">
            <a:avLst/>
          </a:prstGeom>
        </p:spPr>
      </p:pic>
      <p:sp>
        <p:nvSpPr>
          <p:cNvPr id="930" name="Caption 930"/>
          <p:cNvSpPr txBox="1"/>
          <p:nvPr/>
        </p:nvSpPr>
        <p:spPr>
          <a:xfrm>
            <a:off x="461878" y="3332264"/>
            <a:ext cx="2126857" cy="248971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lvl="0" indent="0" algn="ctr" rtl="0">
              <a:buNone/>
            </a:pPr>
            <a:r>
              <a:rPr lang="en" sz="1100" b="1" dirty="0">
                <a:solidFill>
                  <a:srgbClr val="57068C"/>
                </a:solidFill>
                <a:latin typeface="Montserrat"/>
              </a:rPr>
              <a:t>ROC — AUC = 0.99</a:t>
            </a:r>
            <a:endParaRPr dirty="0"/>
          </a:p>
        </p:txBody>
      </p:sp>
      <p:pic>
        <p:nvPicPr>
          <p:cNvPr id="921" name="curve st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240" y="1220000"/>
            <a:ext cx="3017520" cy="2112264"/>
          </a:xfrm>
          <a:prstGeom prst="rect">
            <a:avLst/>
          </a:prstGeom>
        </p:spPr>
      </p:pic>
      <p:sp>
        <p:nvSpPr>
          <p:cNvPr id="931" name="Caption 931"/>
          <p:cNvSpPr txBox="1"/>
          <p:nvPr/>
        </p:nvSpPr>
        <p:spPr>
          <a:xfrm>
            <a:off x="3089114" y="3332264"/>
            <a:ext cx="2665771" cy="321543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lvl="0" indent="0" algn="ctr" rtl="0">
              <a:buNone/>
            </a:pPr>
            <a:r>
              <a:rPr lang="en" sz="1100" b="1" dirty="0">
                <a:solidFill>
                  <a:srgbClr val="57068C"/>
                </a:solidFill>
                <a:latin typeface="Montserrat"/>
              </a:rPr>
              <a:t>PRECISION–RECALL CURVE</a:t>
            </a:r>
            <a:endParaRPr dirty="0"/>
          </a:p>
          <a:p>
            <a:pPr marL="0" lvl="0" indent="0" algn="ctr" rtl="0">
              <a:buNone/>
            </a:pPr>
            <a:r>
              <a:rPr lang="en" sz="900" dirty="0">
                <a:solidFill>
                  <a:srgbClr val="404040"/>
                </a:solidFill>
                <a:latin typeface="Montserrat"/>
              </a:rPr>
              <a:t>Prevalence 3.8% (826 / 21,799)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EB59E4-BA16-EB95-E9C4-9A750EB03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799" y="1069124"/>
            <a:ext cx="3017520" cy="2263140"/>
          </a:xfrm>
          <a:prstGeom prst="rect">
            <a:avLst/>
          </a:prstGeom>
        </p:spPr>
      </p:pic>
      <p:sp>
        <p:nvSpPr>
          <p:cNvPr id="11" name="Caption 930">
            <a:extLst>
              <a:ext uri="{FF2B5EF4-FFF2-40B4-BE49-F238E27FC236}">
                <a16:creationId xmlns:a16="http://schemas.microsoft.com/office/drawing/2014/main" id="{7FF49C64-DFCE-31C0-13A3-EF222F021616}"/>
              </a:ext>
            </a:extLst>
          </p:cNvPr>
          <p:cNvSpPr txBox="1">
            <a:spLocks noChangeAspect="1"/>
          </p:cNvSpPr>
          <p:nvPr/>
        </p:nvSpPr>
        <p:spPr>
          <a:xfrm>
            <a:off x="6180501" y="3321213"/>
            <a:ext cx="2508943" cy="32165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lvl="0" indent="0" algn="ctr" rtl="0">
              <a:buNone/>
            </a:pPr>
            <a:r>
              <a:rPr lang="en" sz="1100" b="1" dirty="0">
                <a:solidFill>
                  <a:srgbClr val="57068C"/>
                </a:solidFill>
                <a:latin typeface="Montserrat"/>
              </a:rPr>
              <a:t>Kernel Density Plot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SUPRAVENTRICULAR TACHYCARDIA</a:t>
            </a:r>
            <a:endParaRPr/>
          </a:p>
        </p:txBody>
      </p:sp>
      <p:pic>
        <p:nvPicPr>
          <p:cNvPr id="920" name="curve svt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8207"/>
            <a:ext cx="3017520" cy="2112264"/>
          </a:xfrm>
          <a:prstGeom prst="rect">
            <a:avLst/>
          </a:prstGeom>
        </p:spPr>
      </p:pic>
      <p:sp>
        <p:nvSpPr>
          <p:cNvPr id="930" name="Caption 930"/>
          <p:cNvSpPr txBox="1"/>
          <p:nvPr/>
        </p:nvSpPr>
        <p:spPr>
          <a:xfrm>
            <a:off x="369131" y="3371953"/>
            <a:ext cx="2279257" cy="278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lvl="0" indent="0" algn="ctr" rtl="0">
              <a:buNone/>
            </a:pPr>
            <a:r>
              <a:rPr lang="en" sz="1100" b="1">
                <a:solidFill>
                  <a:srgbClr val="57068C"/>
                </a:solidFill>
                <a:latin typeface="Montserrat"/>
              </a:rPr>
              <a:t>ROC — AUC = 0.99</a:t>
            </a:r>
            <a:endParaRPr/>
          </a:p>
        </p:txBody>
      </p:sp>
      <p:pic>
        <p:nvPicPr>
          <p:cNvPr id="921" name="curve svt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240" y="1208207"/>
            <a:ext cx="3017520" cy="2112264"/>
          </a:xfrm>
          <a:prstGeom prst="rect">
            <a:avLst/>
          </a:prstGeom>
        </p:spPr>
      </p:pic>
      <p:sp>
        <p:nvSpPr>
          <p:cNvPr id="931" name="Caption 931"/>
          <p:cNvSpPr txBox="1"/>
          <p:nvPr/>
        </p:nvSpPr>
        <p:spPr>
          <a:xfrm>
            <a:off x="2913240" y="3371953"/>
            <a:ext cx="3017520" cy="299771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lvl="0" indent="0" algn="ctr" rtl="0">
              <a:buNone/>
            </a:pPr>
            <a:r>
              <a:rPr lang="en" sz="1100" b="1" dirty="0">
                <a:solidFill>
                  <a:srgbClr val="57068C"/>
                </a:solidFill>
                <a:latin typeface="Montserrat"/>
              </a:rPr>
              <a:t>PRECISION–RECALL CURVE</a:t>
            </a:r>
            <a:endParaRPr dirty="0"/>
          </a:p>
          <a:p>
            <a:pPr marL="0" lvl="0" indent="0" algn="ctr" rtl="0">
              <a:buNone/>
            </a:pPr>
            <a:r>
              <a:rPr lang="en" sz="900" dirty="0">
                <a:solidFill>
                  <a:srgbClr val="404040"/>
                </a:solidFill>
                <a:latin typeface="Montserrat"/>
              </a:rPr>
              <a:t>Prevalence </a:t>
            </a:r>
            <a:r>
              <a:rPr lang="en" sz="900" b="1" dirty="0">
                <a:solidFill>
                  <a:srgbClr val="404040"/>
                </a:solidFill>
                <a:latin typeface="Montserrat"/>
              </a:rPr>
              <a:t>0.19</a:t>
            </a:r>
            <a:r>
              <a:rPr lang="en" sz="900" dirty="0">
                <a:solidFill>
                  <a:srgbClr val="404040"/>
                </a:solidFill>
                <a:latin typeface="Montserrat"/>
              </a:rPr>
              <a:t>% (42 / 21,799)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C40F8A-0406-825B-5B6D-65824B9DC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6480" y="1057331"/>
            <a:ext cx="3017520" cy="2263140"/>
          </a:xfrm>
          <a:prstGeom prst="rect">
            <a:avLst/>
          </a:prstGeom>
        </p:spPr>
      </p:pic>
      <p:sp>
        <p:nvSpPr>
          <p:cNvPr id="5" name="Caption 930">
            <a:extLst>
              <a:ext uri="{FF2B5EF4-FFF2-40B4-BE49-F238E27FC236}">
                <a16:creationId xmlns:a16="http://schemas.microsoft.com/office/drawing/2014/main" id="{E2969F1F-FF4D-431B-24CE-9627E96C22F1}"/>
              </a:ext>
            </a:extLst>
          </p:cNvPr>
          <p:cNvSpPr txBox="1">
            <a:spLocks noChangeAspect="1"/>
          </p:cNvSpPr>
          <p:nvPr/>
        </p:nvSpPr>
        <p:spPr>
          <a:xfrm>
            <a:off x="6080768" y="3371953"/>
            <a:ext cx="2508943" cy="32165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lvl="0" indent="0" algn="ctr" rtl="0">
              <a:buNone/>
            </a:pPr>
            <a:r>
              <a:rPr lang="en" sz="1100" b="1" dirty="0">
                <a:solidFill>
                  <a:srgbClr val="57068C"/>
                </a:solidFill>
                <a:latin typeface="Montserrat"/>
              </a:rPr>
              <a:t>Kernel Density Plot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NORMAL VS ABNORMAL ECG</a:t>
            </a:r>
            <a:endParaRPr/>
          </a:p>
        </p:txBody>
      </p:sp>
      <p:pic>
        <p:nvPicPr>
          <p:cNvPr id="920" name="curve norm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0000"/>
            <a:ext cx="3017520" cy="2112264"/>
          </a:xfrm>
          <a:prstGeom prst="rect">
            <a:avLst/>
          </a:prstGeom>
        </p:spPr>
      </p:pic>
      <p:sp>
        <p:nvSpPr>
          <p:cNvPr id="930" name="Caption 930"/>
          <p:cNvSpPr txBox="1"/>
          <p:nvPr/>
        </p:nvSpPr>
        <p:spPr>
          <a:xfrm>
            <a:off x="182010" y="3332264"/>
            <a:ext cx="2495520" cy="270743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lvl="0" indent="0" algn="ctr" rtl="0">
              <a:buNone/>
            </a:pPr>
            <a:r>
              <a:rPr lang="en" sz="1100" b="1" dirty="0">
                <a:solidFill>
                  <a:srgbClr val="57068C"/>
                </a:solidFill>
                <a:latin typeface="Montserrat"/>
              </a:rPr>
              <a:t>ROC — AUC = 0.89</a:t>
            </a:r>
            <a:endParaRPr dirty="0"/>
          </a:p>
        </p:txBody>
      </p:sp>
      <p:pic>
        <p:nvPicPr>
          <p:cNvPr id="921" name="curve norm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540" y="1222428"/>
            <a:ext cx="3017520" cy="2109836"/>
          </a:xfrm>
          <a:prstGeom prst="rect">
            <a:avLst/>
          </a:prstGeom>
        </p:spPr>
      </p:pic>
      <p:sp>
        <p:nvSpPr>
          <p:cNvPr id="931" name="Caption 931"/>
          <p:cNvSpPr txBox="1"/>
          <p:nvPr/>
        </p:nvSpPr>
        <p:spPr>
          <a:xfrm>
            <a:off x="3099890" y="3306863"/>
            <a:ext cx="2694800" cy="321543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lvl="0" indent="0" algn="ctr" rtl="0">
              <a:buNone/>
            </a:pPr>
            <a:r>
              <a:rPr lang="en" sz="1100" b="1" dirty="0">
                <a:solidFill>
                  <a:srgbClr val="57068C"/>
                </a:solidFill>
                <a:latin typeface="Montserrat"/>
              </a:rPr>
              <a:t>PRECISION–RECALL CURVE</a:t>
            </a:r>
            <a:endParaRPr dirty="0"/>
          </a:p>
          <a:p>
            <a:pPr marL="0" lvl="0" indent="0" algn="ctr" rtl="0">
              <a:buNone/>
            </a:pPr>
            <a:r>
              <a:rPr lang="en" sz="900" dirty="0">
                <a:solidFill>
                  <a:srgbClr val="404040"/>
                </a:solidFill>
                <a:latin typeface="Montserrat"/>
              </a:rPr>
              <a:t>Prevalence 43.6% (9,514 / 21,799)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388CCE-6961-F89B-BBF4-43BB5D218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080" y="1017725"/>
            <a:ext cx="3017520" cy="2263140"/>
          </a:xfrm>
          <a:prstGeom prst="rect">
            <a:avLst/>
          </a:prstGeom>
        </p:spPr>
      </p:pic>
      <p:sp>
        <p:nvSpPr>
          <p:cNvPr id="5" name="Caption 930">
            <a:extLst>
              <a:ext uri="{FF2B5EF4-FFF2-40B4-BE49-F238E27FC236}">
                <a16:creationId xmlns:a16="http://schemas.microsoft.com/office/drawing/2014/main" id="{8057F344-49A7-3983-DDC2-296745A2DE52}"/>
              </a:ext>
            </a:extLst>
          </p:cNvPr>
          <p:cNvSpPr txBox="1">
            <a:spLocks noChangeAspect="1"/>
          </p:cNvSpPr>
          <p:nvPr/>
        </p:nvSpPr>
        <p:spPr>
          <a:xfrm>
            <a:off x="6052358" y="3287957"/>
            <a:ext cx="2508943" cy="32165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lvl="0" indent="0" algn="ctr" rtl="0">
              <a:buNone/>
            </a:pPr>
            <a:r>
              <a:rPr lang="en" sz="1100" b="1" dirty="0">
                <a:solidFill>
                  <a:srgbClr val="57068C"/>
                </a:solidFill>
                <a:latin typeface="Montserrat"/>
              </a:rPr>
              <a:t>Kernel Density Plot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DO NEXT</a:t>
            </a:r>
            <a:endParaRPr/>
          </a:p>
        </p:txBody>
      </p:sp>
      <p:sp>
        <p:nvSpPr>
          <p:cNvPr id="162" name="Google Shape;162;p27"/>
          <p:cNvSpPr txBox="1"/>
          <p:nvPr/>
        </p:nvSpPr>
        <p:spPr>
          <a:xfrm>
            <a:off x="500000" y="1300000"/>
            <a:ext cx="26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DATASET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900">
                <a:solidFill>
                  <a:srgbClr val="333333"/>
                </a:solidFill>
                <a:latin typeface="Montserrat"/>
              </a:rPr>
              <a:t>A multimodal dataset for coronary microvascular disease biomarker discovery (Li et al., 2025), released on Science Data Bank.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900">
                <a:solidFill>
                  <a:srgbClr val="333333"/>
                </a:solidFill>
                <a:latin typeface="Montserrat"/>
              </a:rPr>
              <a:t>80 female ANOCA patients and 40 age-matched healthy female controls; 97 with complete, analysable data.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900">
                <a:solidFill>
                  <a:srgbClr val="333333"/>
                </a:solidFill>
                <a:latin typeface="Montserrat"/>
              </a:rPr>
              <a:t>12-lead ECG at 500 Hz across rest, stress, and recovery (6 min each) under adenosine.</a:t>
            </a:r>
            <a:endParaRPr/>
          </a:p>
        </p:txBody>
      </p:sp>
      <p:sp>
        <p:nvSpPr>
          <p:cNvPr id="163" name="Google Shape;163;p27"/>
          <p:cNvSpPr txBox="1"/>
          <p:nvPr/>
        </p:nvSpPr>
        <p:spPr>
          <a:xfrm>
            <a:off x="3272000" y="1300000"/>
            <a:ext cx="26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GROUND TRUTH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900" dirty="0">
                <a:solidFill>
                  <a:srgbClr val="333333"/>
                </a:solidFill>
                <a:latin typeface="Montserrat"/>
              </a:rPr>
              <a:t>CMD confirmed by coronary flow reserve below 2.0 on 13NH3 PET/CT - a label independent of the ECG.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900" dirty="0">
                <a:solidFill>
                  <a:srgbClr val="333333"/>
                </a:solidFill>
                <a:latin typeface="Montserrat"/>
              </a:rPr>
              <a:t>19 CMD(+) and 78 CMD(−) overall.</a:t>
            </a:r>
            <a:endParaRPr dirty="0"/>
          </a:p>
        </p:txBody>
      </p:sp>
      <p:sp>
        <p:nvSpPr>
          <p:cNvPr id="164" name="Google Shape;164;p27"/>
          <p:cNvSpPr txBox="1"/>
          <p:nvPr/>
        </p:nvSpPr>
        <p:spPr>
          <a:xfrm>
            <a:off x="6044000" y="1300000"/>
            <a:ext cx="26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NEXT STEP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900" dirty="0">
                <a:solidFill>
                  <a:srgbClr val="333333"/>
                </a:solidFill>
                <a:latin typeface="Montserrat"/>
              </a:rPr>
              <a:t>Embedding projection only , no classifier yet. Four groups, crossing symptoms against flow: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900" dirty="0">
                <a:solidFill>
                  <a:srgbClr val="333333"/>
                </a:solidFill>
                <a:latin typeface="Montserrat"/>
              </a:rPr>
              <a:t>ANOCA, CMD(+)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900" dirty="0">
                <a:solidFill>
                  <a:srgbClr val="333333"/>
                </a:solidFill>
                <a:latin typeface="Montserrat"/>
              </a:rPr>
              <a:t>Non-ANOCA, CMD(+)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900" dirty="0">
                <a:solidFill>
                  <a:srgbClr val="333333"/>
                </a:solidFill>
                <a:latin typeface="Montserrat"/>
              </a:rPr>
              <a:t>ANOCA, CMD(−)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900" dirty="0">
                <a:solidFill>
                  <a:srgbClr val="333333"/>
                </a:solidFill>
                <a:latin typeface="Montserrat"/>
              </a:rPr>
              <a:t>Control, CMD(−)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900" dirty="0">
                <a:solidFill>
                  <a:srgbClr val="333333"/>
                </a:solidFill>
                <a:latin typeface="Montserrat"/>
              </a:rPr>
              <a:t>Group sizes to be confirmed from the released labels; the split will be adjusted if a cell is too small.</a:t>
            </a:r>
            <a:endParaRPr dirty="0"/>
          </a:p>
        </p:txBody>
      </p:sp>
      <p:sp>
        <p:nvSpPr>
          <p:cNvPr id="950" name="Source"/>
          <p:cNvSpPr txBox="1"/>
          <p:nvPr/>
        </p:nvSpPr>
        <p:spPr>
          <a:xfrm>
            <a:off x="500000" y="4180000"/>
            <a:ext cx="8144000" cy="3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buNone/>
            </a:pPr>
            <a:r>
              <a:rPr lang="en" sz="800">
                <a:solidFill>
                  <a:srgbClr val="666666"/>
                </a:solidFill>
                <a:latin typeface="Montserrat"/>
              </a:rPr>
              <a:t>Li D, Peng X, Hu L, et al. A multimodal dataset for coronary microvascular disease biomarker discovery. Scientific Data 2025;12:990. Data: Science Data Bank.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1507A-7CC3-A839-7F9B-2513D1069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CAPTUM ATTRIBUTION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00BC12-2AD2-A1A2-8869-6DA692FC827B}"/>
              </a:ext>
            </a:extLst>
          </p:cNvPr>
          <p:cNvSpPr txBox="1"/>
          <p:nvPr/>
        </p:nvSpPr>
        <p:spPr>
          <a:xfrm>
            <a:off x="377372" y="1248228"/>
            <a:ext cx="81435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</a:t>
            </a:r>
            <a:r>
              <a:rPr lang="en-US" dirty="0" err="1"/>
              <a:t>Captum</a:t>
            </a:r>
            <a:r>
              <a:rPr lang="en-US" dirty="0"/>
              <a:t>, positive attribution value means an input feature pushes the model's target output higher.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F39B91-A83A-5BAB-AA13-7D1BFA0C8972}"/>
              </a:ext>
            </a:extLst>
          </p:cNvPr>
          <p:cNvSpPr txBox="1"/>
          <p:nvPr/>
        </p:nvSpPr>
        <p:spPr>
          <a:xfrm>
            <a:off x="311700" y="2417861"/>
            <a:ext cx="8073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 resulting score is positive, the feature has a positive correlation with the target class prediction</a:t>
            </a:r>
          </a:p>
        </p:txBody>
      </p:sp>
    </p:spTree>
    <p:extLst>
      <p:ext uri="{BB962C8B-B14F-4D97-AF65-F5344CB8AC3E}">
        <p14:creationId xmlns:p14="http://schemas.microsoft.com/office/powerpoint/2010/main" val="60046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074C2D0-616A-227C-97ED-2B1C00C98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>
            <a:extLst>
              <a:ext uri="{FF2B5EF4-FFF2-40B4-BE49-F238E27FC236}">
                <a16:creationId xmlns:a16="http://schemas.microsoft.com/office/drawing/2014/main" id="{67351FA2-1B25-6161-C99E-BA4E406422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82531"/>
            <a:ext cx="7909604" cy="3790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800" dirty="0"/>
              <a:t>ATRIAL FIBRILLATION</a:t>
            </a:r>
            <a:r>
              <a:rPr lang="en-US" sz="1800" dirty="0"/>
              <a:t> ATTRIBUTION</a:t>
            </a:r>
            <a:br>
              <a:rPr lang="en-US" sz="1800" dirty="0"/>
            </a:br>
            <a:endParaRPr sz="1800" dirty="0"/>
          </a:p>
        </p:txBody>
      </p:sp>
      <p:sp>
        <p:nvSpPr>
          <p:cNvPr id="10" name="Google Shape;149;p25">
            <a:extLst>
              <a:ext uri="{FF2B5EF4-FFF2-40B4-BE49-F238E27FC236}">
                <a16:creationId xmlns:a16="http://schemas.microsoft.com/office/drawing/2014/main" id="{52D38C38-1A1B-1D2F-512B-7AD0D3C17342}"/>
              </a:ext>
            </a:extLst>
          </p:cNvPr>
          <p:cNvSpPr txBox="1">
            <a:spLocks/>
          </p:cNvSpPr>
          <p:nvPr/>
        </p:nvSpPr>
        <p:spPr>
          <a:xfrm>
            <a:off x="3364811" y="4764402"/>
            <a:ext cx="2740934" cy="379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400" dirty="0"/>
              <a:t>Per Lead Normalization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5C8450-F362-834B-00AF-E15B8A1C3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6567"/>
            <a:ext cx="7257143" cy="484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212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350C109-63C8-A2F4-DBFD-25D5411AB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>
            <a:extLst>
              <a:ext uri="{FF2B5EF4-FFF2-40B4-BE49-F238E27FC236}">
                <a16:creationId xmlns:a16="http://schemas.microsoft.com/office/drawing/2014/main" id="{0C15B47A-6903-BA51-9A85-D6BBD7E48F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253" y="-103327"/>
            <a:ext cx="7909604" cy="3790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ATRIAL FIBRILLATION EXPLAINABILITY</a:t>
            </a:r>
            <a:endParaRPr dirty="0"/>
          </a:p>
        </p:txBody>
      </p:sp>
      <p:sp>
        <p:nvSpPr>
          <p:cNvPr id="4" name="Google Shape;149;p25">
            <a:extLst>
              <a:ext uri="{FF2B5EF4-FFF2-40B4-BE49-F238E27FC236}">
                <a16:creationId xmlns:a16="http://schemas.microsoft.com/office/drawing/2014/main" id="{95DB8D7F-013C-CA4A-A62F-E3D4E671D75D}"/>
              </a:ext>
            </a:extLst>
          </p:cNvPr>
          <p:cNvSpPr txBox="1">
            <a:spLocks/>
          </p:cNvSpPr>
          <p:nvPr/>
        </p:nvSpPr>
        <p:spPr>
          <a:xfrm>
            <a:off x="5993630" y="3900424"/>
            <a:ext cx="2243227" cy="379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400" dirty="0"/>
              <a:t>Global Normalization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D94E1E-05E4-58C8-F3A2-0A173CCF0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770"/>
            <a:ext cx="5351840" cy="48677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FC9BD9-0746-762D-6702-3DACF3377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840" y="1236988"/>
            <a:ext cx="3777843" cy="214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08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04D70EE-9651-09AE-F481-4A08D4D64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>
            <a:extLst>
              <a:ext uri="{FF2B5EF4-FFF2-40B4-BE49-F238E27FC236}">
                <a16:creationId xmlns:a16="http://schemas.microsoft.com/office/drawing/2014/main" id="{B1F21D43-E47E-921B-22D5-11088CD14F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253" y="-103327"/>
            <a:ext cx="7909604" cy="3790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ATRIAL FIBRILLATION EXPLAINABILITY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62AA6-FE6C-2FD6-4BFA-BB39B53EF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771"/>
            <a:ext cx="5185243" cy="47162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6CBED5-E01A-4110-2ECF-0587FF794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736" y="2067938"/>
            <a:ext cx="3672828" cy="1614954"/>
          </a:xfrm>
          <a:prstGeom prst="rect">
            <a:avLst/>
          </a:prstGeom>
        </p:spPr>
      </p:pic>
      <p:sp>
        <p:nvSpPr>
          <p:cNvPr id="11" name="Google Shape;149;p25">
            <a:extLst>
              <a:ext uri="{FF2B5EF4-FFF2-40B4-BE49-F238E27FC236}">
                <a16:creationId xmlns:a16="http://schemas.microsoft.com/office/drawing/2014/main" id="{B86A0B05-315E-D12F-6882-F661549CD19D}"/>
              </a:ext>
            </a:extLst>
          </p:cNvPr>
          <p:cNvSpPr txBox="1">
            <a:spLocks/>
          </p:cNvSpPr>
          <p:nvPr/>
        </p:nvSpPr>
        <p:spPr>
          <a:xfrm>
            <a:off x="5752411" y="3919382"/>
            <a:ext cx="2740934" cy="379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400" dirty="0"/>
              <a:t>Per Lead Normalization</a:t>
            </a:r>
          </a:p>
        </p:txBody>
      </p:sp>
    </p:spTree>
    <p:extLst>
      <p:ext uri="{BB962C8B-B14F-4D97-AF65-F5344CB8AC3E}">
        <p14:creationId xmlns:p14="http://schemas.microsoft.com/office/powerpoint/2010/main" val="691714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1694628-0AD9-F6F6-D0C9-C264B3F9A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>
            <a:extLst>
              <a:ext uri="{FF2B5EF4-FFF2-40B4-BE49-F238E27FC236}">
                <a16:creationId xmlns:a16="http://schemas.microsoft.com/office/drawing/2014/main" id="{1DAA2411-0803-1A5F-BD0F-86E95CADA7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253" y="-103327"/>
            <a:ext cx="7909604" cy="3790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ATRIAL FLUTTER EXPLAINABILITY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E87D26-EFE3-F690-7049-F7365F8E3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443"/>
            <a:ext cx="5333511" cy="4851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7271A2-52CC-75A4-E8B8-510E4F334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511" y="1811601"/>
            <a:ext cx="3810489" cy="1286766"/>
          </a:xfrm>
          <a:prstGeom prst="rect">
            <a:avLst/>
          </a:prstGeom>
        </p:spPr>
      </p:pic>
      <p:sp>
        <p:nvSpPr>
          <p:cNvPr id="9" name="Google Shape;149;p25">
            <a:extLst>
              <a:ext uri="{FF2B5EF4-FFF2-40B4-BE49-F238E27FC236}">
                <a16:creationId xmlns:a16="http://schemas.microsoft.com/office/drawing/2014/main" id="{AB527591-D759-F243-75A0-F09BCE688FF1}"/>
              </a:ext>
            </a:extLst>
          </p:cNvPr>
          <p:cNvSpPr txBox="1">
            <a:spLocks/>
          </p:cNvSpPr>
          <p:nvPr/>
        </p:nvSpPr>
        <p:spPr>
          <a:xfrm>
            <a:off x="5782891" y="3655222"/>
            <a:ext cx="2740934" cy="379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400" dirty="0"/>
              <a:t>Per Lead Normalization</a:t>
            </a:r>
          </a:p>
        </p:txBody>
      </p:sp>
    </p:spTree>
    <p:extLst>
      <p:ext uri="{BB962C8B-B14F-4D97-AF65-F5344CB8AC3E}">
        <p14:creationId xmlns:p14="http://schemas.microsoft.com/office/powerpoint/2010/main" val="4171583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9409F93-28BD-A75D-D180-89A5DAFDE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>
            <a:extLst>
              <a:ext uri="{FF2B5EF4-FFF2-40B4-BE49-F238E27FC236}">
                <a16:creationId xmlns:a16="http://schemas.microsoft.com/office/drawing/2014/main" id="{60F1D46A-F135-D953-73C3-305CC652EC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253" y="-103327"/>
            <a:ext cx="7909604" cy="3790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ATRIAL FLUTTER EXPLAINABILITY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7681F0-6688-0A11-39DF-4A5E59517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75771"/>
            <a:ext cx="5351839" cy="48677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8CA1AA-B8EE-1CE4-17A8-C2C282E48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096" y="1034368"/>
            <a:ext cx="3744904" cy="1537382"/>
          </a:xfrm>
          <a:prstGeom prst="rect">
            <a:avLst/>
          </a:prstGeom>
        </p:spPr>
      </p:pic>
      <p:sp>
        <p:nvSpPr>
          <p:cNvPr id="9" name="Google Shape;149;p25">
            <a:extLst>
              <a:ext uri="{FF2B5EF4-FFF2-40B4-BE49-F238E27FC236}">
                <a16:creationId xmlns:a16="http://schemas.microsoft.com/office/drawing/2014/main" id="{D4BAF1EA-80E6-D765-3D0C-FBDE184EE44B}"/>
              </a:ext>
            </a:extLst>
          </p:cNvPr>
          <p:cNvSpPr txBox="1">
            <a:spLocks/>
          </p:cNvSpPr>
          <p:nvPr/>
        </p:nvSpPr>
        <p:spPr>
          <a:xfrm>
            <a:off x="6148651" y="3421542"/>
            <a:ext cx="2740934" cy="379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Montserrat Black"/>
              <a:buNone/>
              <a:defRPr sz="4200" b="0" i="0" u="none" strike="noStrike" cap="none" spc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400" dirty="0"/>
              <a:t>Per Lead Normalization</a:t>
            </a:r>
          </a:p>
        </p:txBody>
      </p:sp>
    </p:spTree>
    <p:extLst>
      <p:ext uri="{BB962C8B-B14F-4D97-AF65-F5344CB8AC3E}">
        <p14:creationId xmlns:p14="http://schemas.microsoft.com/office/powerpoint/2010/main" val="1564598959"/>
      </p:ext>
    </p:extLst>
  </p:cSld>
  <p:clrMapOvr>
    <a:masterClrMapping/>
  </p:clrMapOvr>
</p:sld>
</file>

<file path=ppt/theme/theme1.xml><?xml version="1.0" encoding="utf-8"?>
<a:theme xmlns:a="http://schemas.openxmlformats.org/drawingml/2006/main" name="NYU Bold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2E1DD"/>
      </a:lt2>
      <a:accent1>
        <a:srgbClr val="9A6ABA"/>
      </a:accent1>
      <a:accent2>
        <a:srgbClr val="6D6D6D"/>
      </a:accent2>
      <a:accent3>
        <a:srgbClr val="8900E1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551</Words>
  <Application>Microsoft Office PowerPoint</Application>
  <PresentationFormat>On-screen Show (16:9)</PresentationFormat>
  <Paragraphs>68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Montserrat Black</vt:lpstr>
      <vt:lpstr>Arial</vt:lpstr>
      <vt:lpstr>Montserrat ExtraBold</vt:lpstr>
      <vt:lpstr>Montserrat</vt:lpstr>
      <vt:lpstr>NYU Bold</vt:lpstr>
      <vt:lpstr>ECG FOUNDATION MODEL VALIDATION</vt:lpstr>
      <vt:lpstr>ECGFOUNDER AT A GLANCE</vt:lpstr>
      <vt:lpstr>OVERVIEW</vt:lpstr>
      <vt:lpstr>EMBEDDING PROJECTION COMPARISON</vt:lpstr>
      <vt:lpstr>EMBEDDING PROJECTION COMPARISON</vt:lpstr>
      <vt:lpstr>ATRIAL FIBRILLATION</vt:lpstr>
      <vt:lpstr>SINUS TACHYCARDIA</vt:lpstr>
      <vt:lpstr>SUPRAVENTRICULAR TACHYCARDIA</vt:lpstr>
      <vt:lpstr>NORMAL VS ABNORMAL ECG</vt:lpstr>
      <vt:lpstr>WHAT WE DO NEXT</vt:lpstr>
      <vt:lpstr>CAPTUM ATTRIBUTION</vt:lpstr>
      <vt:lpstr>ATRIAL FIBRILLATION ATTRIBUTION </vt:lpstr>
      <vt:lpstr>ATRIAL FIBRILLATION EXPLAINABILITY</vt:lpstr>
      <vt:lpstr>ATRIAL FIBRILLATION EXPLAINABILITY</vt:lpstr>
      <vt:lpstr>ATRIAL FLUTTER EXPLAINABILITY</vt:lpstr>
      <vt:lpstr>ATRIAL FLUTTER EXPLAINABILITY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Gebresellassie, Estifanos Zenebe</cp:lastModifiedBy>
  <cp:revision>21</cp:revision>
  <dcterms:modified xsi:type="dcterms:W3CDTF">2026-08-25T14:03:42Z</dcterms:modified>
</cp:coreProperties>
</file>